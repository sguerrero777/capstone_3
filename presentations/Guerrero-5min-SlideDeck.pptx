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9" r:id="rId3"/>
    <p:sldId id="269" r:id="rId4"/>
    <p:sldId id="276" r:id="rId5"/>
    <p:sldId id="256" r:id="rId6"/>
    <p:sldId id="262" r:id="rId7"/>
    <p:sldId id="267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13CA5-F53E-4777-8DC8-6FA8D45AF0B9}" v="46" dt="2026-06-26T07:11:11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8" autoAdjust="0"/>
    <p:restoredTop sz="94660"/>
  </p:normalViewPr>
  <p:slideViewPr>
    <p:cSldViewPr snapToGrid="0">
      <p:cViewPr varScale="1">
        <p:scale>
          <a:sx n="55" d="100"/>
          <a:sy n="55" d="100"/>
        </p:scale>
        <p:origin x="66" y="6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leen guerrero" userId="3aa031e9-e6a7-468f-bc3b-fce99a2b0b37" providerId="ADAL" clId="{A08EFAD0-E507-44ED-BFB5-F5D566E874EF}"/>
    <pc:docChg chg="undo custSel addSld delSld modSld sldOrd delMainMaster">
      <pc:chgData name="sharleen guerrero" userId="3aa031e9-e6a7-468f-bc3b-fce99a2b0b37" providerId="ADAL" clId="{A08EFAD0-E507-44ED-BFB5-F5D566E874EF}" dt="2026-06-26T07:11:39.794" v="368" actId="47"/>
      <pc:docMkLst>
        <pc:docMk/>
      </pc:docMkLst>
      <pc:sldChg chg="addSp delSp modSp add del mod setBg">
        <pc:chgData name="sharleen guerrero" userId="3aa031e9-e6a7-468f-bc3b-fce99a2b0b37" providerId="ADAL" clId="{A08EFAD0-E507-44ED-BFB5-F5D566E874EF}" dt="2026-06-26T07:11:11.202" v="361"/>
        <pc:sldMkLst>
          <pc:docMk/>
          <pc:sldMk cId="0" sldId="256"/>
        </pc:sldMkLst>
        <pc:spChg chg="mod">
          <ac:chgData name="sharleen guerrero" userId="3aa031e9-e6a7-468f-bc3b-fce99a2b0b37" providerId="ADAL" clId="{A08EFAD0-E507-44ED-BFB5-F5D566E874EF}" dt="2026-06-26T07:08:34.686" v="213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11:11.202" v="361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sharleen guerrero" userId="3aa031e9-e6a7-468f-bc3b-fce99a2b0b37" providerId="ADAL" clId="{A08EFAD0-E507-44ED-BFB5-F5D566E874EF}" dt="2026-06-26T07:01:07.573" v="5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1:06.495" v="54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1:34.273" v="62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sharleen guerrero" userId="3aa031e9-e6a7-468f-bc3b-fce99a2b0b37" providerId="ADAL" clId="{A08EFAD0-E507-44ED-BFB5-F5D566E874EF}" dt="2026-06-26T07:01:44.007" v="65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4:34.174" v="86" actId="1076"/>
          <ac:spMkLst>
            <pc:docMk/>
            <pc:sldMk cId="0" sldId="256"/>
            <ac:spMk id="17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4:28.900" v="84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4:37.831" v="88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21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22" creationId="{00000000-0000-0000-0000-000000000000}"/>
          </ac:spMkLst>
        </pc:spChg>
        <pc:spChg chg="add del">
          <ac:chgData name="sharleen guerrero" userId="3aa031e9-e6a7-468f-bc3b-fce99a2b0b37" providerId="ADAL" clId="{A08EFAD0-E507-44ED-BFB5-F5D566E874EF}" dt="2026-06-26T07:05:26.948" v="102" actId="478"/>
          <ac:spMkLst>
            <pc:docMk/>
            <pc:sldMk cId="0" sldId="256"/>
            <ac:spMk id="24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5:25.588" v="101" actId="478"/>
          <ac:spMkLst>
            <pc:docMk/>
            <pc:sldMk cId="0" sldId="256"/>
            <ac:spMk id="25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33.284" v="111" actId="2711"/>
          <ac:spMkLst>
            <pc:docMk/>
            <pc:sldMk cId="0" sldId="256"/>
            <ac:spMk id="27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6:45.282" v="127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07:39.724" v="164" actId="2711"/>
          <ac:spMkLst>
            <pc:docMk/>
            <pc:sldMk cId="0" sldId="256"/>
            <ac:spMk id="30" creationId="{00000000-0000-0000-0000-000000000000}"/>
          </ac:spMkLst>
        </pc:spChg>
        <pc:spChg chg="mod">
          <ac:chgData name="sharleen guerrero" userId="3aa031e9-e6a7-468f-bc3b-fce99a2b0b37" providerId="ADAL" clId="{A08EFAD0-E507-44ED-BFB5-F5D566E874EF}" dt="2026-06-26T07:11:07.301" v="359" actId="20577"/>
          <ac:spMkLst>
            <pc:docMk/>
            <pc:sldMk cId="0" sldId="256"/>
            <ac:spMk id="31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8:05.231" v="168" actId="478"/>
          <ac:spMkLst>
            <pc:docMk/>
            <pc:sldMk cId="0" sldId="256"/>
            <ac:spMk id="32" creationId="{00000000-0000-0000-0000-000000000000}"/>
          </ac:spMkLst>
        </pc:spChg>
        <pc:spChg chg="del">
          <ac:chgData name="sharleen guerrero" userId="3aa031e9-e6a7-468f-bc3b-fce99a2b0b37" providerId="ADAL" clId="{A08EFAD0-E507-44ED-BFB5-F5D566E874EF}" dt="2026-06-26T07:09:56.428" v="355" actId="478"/>
          <ac:spMkLst>
            <pc:docMk/>
            <pc:sldMk cId="0" sldId="256"/>
            <ac:spMk id="33" creationId="{00000000-0000-0000-0000-000000000000}"/>
          </ac:spMkLst>
        </pc:spChg>
        <pc:spChg chg="add mod">
          <ac:chgData name="sharleen guerrero" userId="3aa031e9-e6a7-468f-bc3b-fce99a2b0b37" providerId="ADAL" clId="{A08EFAD0-E507-44ED-BFB5-F5D566E874EF}" dt="2026-06-26T07:01:11.227" v="56" actId="1076"/>
          <ac:spMkLst>
            <pc:docMk/>
            <pc:sldMk cId="0" sldId="256"/>
            <ac:spMk id="35" creationId="{E0D789F5-30AC-176D-11B8-12FE1BE4E5E5}"/>
          </ac:spMkLst>
        </pc:spChg>
        <pc:spChg chg="add mod">
          <ac:chgData name="sharleen guerrero" userId="3aa031e9-e6a7-468f-bc3b-fce99a2b0b37" providerId="ADAL" clId="{A08EFAD0-E507-44ED-BFB5-F5D566E874EF}" dt="2026-06-26T07:05:33.881" v="103" actId="1076"/>
          <ac:spMkLst>
            <pc:docMk/>
            <pc:sldMk cId="0" sldId="256"/>
            <ac:spMk id="39" creationId="{258097FC-6921-4B06-57FD-D0F8754CD85B}"/>
          </ac:spMkLst>
        </pc:spChg>
        <pc:spChg chg="add mod">
          <ac:chgData name="sharleen guerrero" userId="3aa031e9-e6a7-468f-bc3b-fce99a2b0b37" providerId="ADAL" clId="{A08EFAD0-E507-44ED-BFB5-F5D566E874EF}" dt="2026-06-26T07:01:56.403" v="72" actId="1076"/>
          <ac:spMkLst>
            <pc:docMk/>
            <pc:sldMk cId="0" sldId="256"/>
            <ac:spMk id="41" creationId="{4DEF5CE8-84E1-2BC5-8682-4F66FD48DF8F}"/>
          </ac:spMkLst>
        </pc:spChg>
        <pc:spChg chg="add mod">
          <ac:chgData name="sharleen guerrero" userId="3aa031e9-e6a7-468f-bc3b-fce99a2b0b37" providerId="ADAL" clId="{A08EFAD0-E507-44ED-BFB5-F5D566E874EF}" dt="2026-06-26T07:04:42.247" v="89" actId="1076"/>
          <ac:spMkLst>
            <pc:docMk/>
            <pc:sldMk cId="0" sldId="256"/>
            <ac:spMk id="43" creationId="{E851006D-1EC2-D2D0-538A-79A94BD0E622}"/>
          </ac:spMkLst>
        </pc:spChg>
        <pc:picChg chg="add mod">
          <ac:chgData name="sharleen guerrero" userId="3aa031e9-e6a7-468f-bc3b-fce99a2b0b37" providerId="ADAL" clId="{A08EFAD0-E507-44ED-BFB5-F5D566E874EF}" dt="2026-06-26T07:01:28.505" v="61" actId="14100"/>
          <ac:picMkLst>
            <pc:docMk/>
            <pc:sldMk cId="0" sldId="256"/>
            <ac:picMk id="37" creationId="{1C606823-7ED6-64ED-B1B8-5CE98501E37F}"/>
          </ac:picMkLst>
        </pc:picChg>
        <pc:picChg chg="add mod ord">
          <ac:chgData name="sharleen guerrero" userId="3aa031e9-e6a7-468f-bc3b-fce99a2b0b37" providerId="ADAL" clId="{A08EFAD0-E507-44ED-BFB5-F5D566E874EF}" dt="2026-06-26T07:02:15.423" v="79" actId="171"/>
          <ac:picMkLst>
            <pc:docMk/>
            <pc:sldMk cId="0" sldId="256"/>
            <ac:picMk id="45" creationId="{43ADD235-8459-F669-EADA-2748FF9BDCBC}"/>
          </ac:picMkLst>
        </pc:picChg>
        <pc:picChg chg="add mod">
          <ac:chgData name="sharleen guerrero" userId="3aa031e9-e6a7-468f-bc3b-fce99a2b0b37" providerId="ADAL" clId="{A08EFAD0-E507-44ED-BFB5-F5D566E874EF}" dt="2026-06-26T07:05:17.516" v="99" actId="14100"/>
          <ac:picMkLst>
            <pc:docMk/>
            <pc:sldMk cId="0" sldId="256"/>
            <ac:picMk id="47" creationId="{4E509D37-0D4B-DEDE-160F-E270A2656CC7}"/>
          </ac:picMkLst>
        </pc:picChg>
        <pc:picChg chg="add mod">
          <ac:chgData name="sharleen guerrero" userId="3aa031e9-e6a7-468f-bc3b-fce99a2b0b37" providerId="ADAL" clId="{A08EFAD0-E507-44ED-BFB5-F5D566E874EF}" dt="2026-06-26T07:06:06.198" v="110" actId="14100"/>
          <ac:picMkLst>
            <pc:docMk/>
            <pc:sldMk cId="0" sldId="256"/>
            <ac:picMk id="49" creationId="{5B9AAF6D-4E91-F154-3840-169F83C72E0C}"/>
          </ac:picMkLst>
        </pc:picChg>
      </pc:sldChg>
      <pc:sldChg chg="del">
        <pc:chgData name="sharleen guerrero" userId="3aa031e9-e6a7-468f-bc3b-fce99a2b0b37" providerId="ADAL" clId="{A08EFAD0-E507-44ED-BFB5-F5D566E874EF}" dt="2026-06-26T06:41:21.322" v="6" actId="47"/>
        <pc:sldMkLst>
          <pc:docMk/>
          <pc:sldMk cId="237800406" sldId="256"/>
        </pc:sldMkLst>
      </pc:sldChg>
      <pc:sldChg chg="addSp delSp modSp add del mod setBg delDesignElem">
        <pc:chgData name="sharleen guerrero" userId="3aa031e9-e6a7-468f-bc3b-fce99a2b0b37" providerId="ADAL" clId="{A08EFAD0-E507-44ED-BFB5-F5D566E874EF}" dt="2026-06-26T06:41:19.665" v="5"/>
        <pc:sldMkLst>
          <pc:docMk/>
          <pc:sldMk cId="3315357987" sldId="257"/>
        </pc:sldMkLst>
        <pc:spChg chg="mod">
          <ac:chgData name="sharleen guerrero" userId="3aa031e9-e6a7-468f-bc3b-fce99a2b0b37" providerId="ADAL" clId="{A08EFAD0-E507-44ED-BFB5-F5D566E874EF}" dt="2026-06-26T06:41:19.623" v="4"/>
          <ac:spMkLst>
            <pc:docMk/>
            <pc:sldMk cId="3315357987" sldId="257"/>
            <ac:spMk id="3" creationId="{5485A801-FEEE-1686-1FFF-F10D1D89BCA8}"/>
          </ac:spMkLst>
        </pc:spChg>
        <pc:spChg chg="add del">
          <ac:chgData name="sharleen guerrero" userId="3aa031e9-e6a7-468f-bc3b-fce99a2b0b37" providerId="ADAL" clId="{A08EFAD0-E507-44ED-BFB5-F5D566E874EF}" dt="2026-06-26T06:41:19.623" v="4"/>
          <ac:spMkLst>
            <pc:docMk/>
            <pc:sldMk cId="3315357987" sldId="257"/>
            <ac:spMk id="57" creationId="{4905C695-F54E-4EF8-8AEF-811D460E7AFE}"/>
          </ac:spMkLst>
        </pc:spChg>
        <pc:spChg chg="add del">
          <ac:chgData name="sharleen guerrero" userId="3aa031e9-e6a7-468f-bc3b-fce99a2b0b37" providerId="ADAL" clId="{A08EFAD0-E507-44ED-BFB5-F5D566E874EF}" dt="2026-06-26T06:41:19.623" v="4"/>
          <ac:spMkLst>
            <pc:docMk/>
            <pc:sldMk cId="3315357987" sldId="257"/>
            <ac:spMk id="58" creationId="{485CD2A3-2099-476E-9A85-55DC735FA2B7}"/>
          </ac:spMkLst>
        </pc:spChg>
        <pc:grpChg chg="add del">
          <ac:chgData name="sharleen guerrero" userId="3aa031e9-e6a7-468f-bc3b-fce99a2b0b37" providerId="ADAL" clId="{A08EFAD0-E507-44ED-BFB5-F5D566E874EF}" dt="2026-06-26T06:41:19.623" v="4"/>
          <ac:grpSpMkLst>
            <pc:docMk/>
            <pc:sldMk cId="3315357987" sldId="257"/>
            <ac:grpSpMk id="59" creationId="{E92979E8-2E86-433E-A7E4-5F102E45A8EE}"/>
          </ac:grpSpMkLst>
        </pc:grpChg>
      </pc:sldChg>
      <pc:sldChg chg="add del setBg">
        <pc:chgData name="sharleen guerrero" userId="3aa031e9-e6a7-468f-bc3b-fce99a2b0b37" providerId="ADAL" clId="{A08EFAD0-E507-44ED-BFB5-F5D566E874EF}" dt="2026-06-26T06:41:33.447" v="9"/>
        <pc:sldMkLst>
          <pc:docMk/>
          <pc:sldMk cId="4167188448" sldId="259"/>
        </pc:sldMkLst>
      </pc:sldChg>
      <pc:sldChg chg="add del setBg">
        <pc:chgData name="sharleen guerrero" userId="3aa031e9-e6a7-468f-bc3b-fce99a2b0b37" providerId="ADAL" clId="{A08EFAD0-E507-44ED-BFB5-F5D566E874EF}" dt="2026-06-26T06:44:57.681" v="39" actId="47"/>
        <pc:sldMkLst>
          <pc:docMk/>
          <pc:sldMk cId="4239445584" sldId="261"/>
        </pc:sldMkLst>
      </pc:sldChg>
      <pc:sldChg chg="add del setBg">
        <pc:chgData name="sharleen guerrero" userId="3aa031e9-e6a7-468f-bc3b-fce99a2b0b37" providerId="ADAL" clId="{A08EFAD0-E507-44ED-BFB5-F5D566E874EF}" dt="2026-06-26T06:43:36.626" v="27"/>
        <pc:sldMkLst>
          <pc:docMk/>
          <pc:sldMk cId="3404207787" sldId="262"/>
        </pc:sldMkLst>
      </pc:sldChg>
      <pc:sldChg chg="add del setBg">
        <pc:chgData name="sharleen guerrero" userId="3aa031e9-e6a7-468f-bc3b-fce99a2b0b37" providerId="ADAL" clId="{A08EFAD0-E507-44ED-BFB5-F5D566E874EF}" dt="2026-06-26T06:43:44.581" v="30"/>
        <pc:sldMkLst>
          <pc:docMk/>
          <pc:sldMk cId="2874502003" sldId="267"/>
        </pc:sldMkLst>
      </pc:sldChg>
      <pc:sldChg chg="add del setBg">
        <pc:chgData name="sharleen guerrero" userId="3aa031e9-e6a7-468f-bc3b-fce99a2b0b37" providerId="ADAL" clId="{A08EFAD0-E507-44ED-BFB5-F5D566E874EF}" dt="2026-06-26T06:41:44.951" v="12"/>
        <pc:sldMkLst>
          <pc:docMk/>
          <pc:sldMk cId="0" sldId="269"/>
        </pc:sldMkLst>
      </pc:sldChg>
      <pc:sldChg chg="add del setBg">
        <pc:chgData name="sharleen guerrero" userId="3aa031e9-e6a7-468f-bc3b-fce99a2b0b37" providerId="ADAL" clId="{A08EFAD0-E507-44ED-BFB5-F5D566E874EF}" dt="2026-06-26T06:44:18.040" v="38" actId="47"/>
        <pc:sldMkLst>
          <pc:docMk/>
          <pc:sldMk cId="166297185" sldId="270"/>
        </pc:sldMkLst>
      </pc:sldChg>
      <pc:sldChg chg="add del setBg">
        <pc:chgData name="sharleen guerrero" userId="3aa031e9-e6a7-468f-bc3b-fce99a2b0b37" providerId="ADAL" clId="{A08EFAD0-E507-44ED-BFB5-F5D566E874EF}" dt="2026-06-26T07:11:29.558" v="364" actId="47"/>
        <pc:sldMkLst>
          <pc:docMk/>
          <pc:sldMk cId="595350866" sldId="272"/>
        </pc:sldMkLst>
      </pc:sldChg>
      <pc:sldChg chg="add del setBg">
        <pc:chgData name="sharleen guerrero" userId="3aa031e9-e6a7-468f-bc3b-fce99a2b0b37" providerId="ADAL" clId="{A08EFAD0-E507-44ED-BFB5-F5D566E874EF}" dt="2026-06-26T07:11:30.588" v="365" actId="47"/>
        <pc:sldMkLst>
          <pc:docMk/>
          <pc:sldMk cId="0" sldId="273"/>
        </pc:sldMkLst>
      </pc:sldChg>
      <pc:sldChg chg="add del">
        <pc:chgData name="sharleen guerrero" userId="3aa031e9-e6a7-468f-bc3b-fce99a2b0b37" providerId="ADAL" clId="{A08EFAD0-E507-44ED-BFB5-F5D566E874EF}" dt="2026-06-26T07:11:39.794" v="368" actId="47"/>
        <pc:sldMkLst>
          <pc:docMk/>
          <pc:sldMk cId="73691765" sldId="274"/>
        </pc:sldMkLst>
      </pc:sldChg>
      <pc:sldChg chg="add del">
        <pc:chgData name="sharleen guerrero" userId="3aa031e9-e6a7-468f-bc3b-fce99a2b0b37" providerId="ADAL" clId="{A08EFAD0-E507-44ED-BFB5-F5D566E874EF}" dt="2026-06-26T06:43:55.484" v="34" actId="47"/>
        <pc:sldMkLst>
          <pc:docMk/>
          <pc:sldMk cId="2649939266" sldId="274"/>
        </pc:sldMkLst>
      </pc:sldChg>
      <pc:sldChg chg="add del setBg">
        <pc:chgData name="sharleen guerrero" userId="3aa031e9-e6a7-468f-bc3b-fce99a2b0b37" providerId="ADAL" clId="{A08EFAD0-E507-44ED-BFB5-F5D566E874EF}" dt="2026-06-26T06:43:49.814" v="32"/>
        <pc:sldMkLst>
          <pc:docMk/>
          <pc:sldMk cId="3884962964" sldId="274"/>
        </pc:sldMkLst>
      </pc:sldChg>
      <pc:sldChg chg="add del setBg">
        <pc:chgData name="sharleen guerrero" userId="3aa031e9-e6a7-468f-bc3b-fce99a2b0b37" providerId="ADAL" clId="{A08EFAD0-E507-44ED-BFB5-F5D566E874EF}" dt="2026-06-26T06:43:59.037" v="37"/>
        <pc:sldMkLst>
          <pc:docMk/>
          <pc:sldMk cId="1696680686" sldId="275"/>
        </pc:sldMkLst>
      </pc:sldChg>
      <pc:sldChg chg="add del setBg">
        <pc:chgData name="sharleen guerrero" userId="3aa031e9-e6a7-468f-bc3b-fce99a2b0b37" providerId="ADAL" clId="{A08EFAD0-E507-44ED-BFB5-F5D566E874EF}" dt="2026-06-26T07:04:17.973" v="82"/>
        <pc:sldMkLst>
          <pc:docMk/>
          <pc:sldMk cId="1620328062" sldId="276"/>
        </pc:sldMkLst>
      </pc:sldChg>
      <pc:sldChg chg="add del ord">
        <pc:chgData name="sharleen guerrero" userId="3aa031e9-e6a7-468f-bc3b-fce99a2b0b37" providerId="ADAL" clId="{A08EFAD0-E507-44ED-BFB5-F5D566E874EF}" dt="2026-06-26T07:11:38.615" v="367"/>
        <pc:sldMkLst>
          <pc:docMk/>
          <pc:sldMk cId="2301768019" sldId="276"/>
        </pc:sldMkLst>
      </pc:sldChg>
      <pc:sldMasterChg chg="del delSldLayout">
        <pc:chgData name="sharleen guerrero" userId="3aa031e9-e6a7-468f-bc3b-fce99a2b0b37" providerId="ADAL" clId="{A08EFAD0-E507-44ED-BFB5-F5D566E874EF}" dt="2026-06-26T06:41:21.322" v="6" actId="47"/>
        <pc:sldMasterMkLst>
          <pc:docMk/>
          <pc:sldMasterMk cId="966002517" sldId="2147483648"/>
        </pc:sldMasterMkLst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2364067283" sldId="2147483649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3340431226" sldId="2147483650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2801386094" sldId="2147483651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3627292049" sldId="2147483652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1908434564" sldId="2147483653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3268005035" sldId="2147483654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866209117" sldId="2147483655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2617377446" sldId="2147483656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3924361843" sldId="2147483657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1819736616" sldId="2147483658"/>
          </pc:sldLayoutMkLst>
        </pc:sldLayoutChg>
        <pc:sldLayoutChg chg="del">
          <pc:chgData name="sharleen guerrero" userId="3aa031e9-e6a7-468f-bc3b-fce99a2b0b37" providerId="ADAL" clId="{A08EFAD0-E507-44ED-BFB5-F5D566E874EF}" dt="2026-06-26T06:41:21.322" v="6" actId="47"/>
          <pc:sldLayoutMkLst>
            <pc:docMk/>
            <pc:sldMasterMk cId="966002517" sldId="2147483648"/>
            <pc:sldLayoutMk cId="44902092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12FF7-AFDC-494B-9A78-867F7F0E5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DF332-C62E-4C28-8E1C-6ACE4AEE2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8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tables imported, 6 key cleaning fixes, star schema with 8 relationships, 16 explicit DAX measures, 3-page report with all 4 required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C288-60AA-AEF7-6671-F26143A6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06A7C-1F10-3CB6-4BC3-71FEB902E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7D1EA-D2CF-1ABE-B01A-0D0CDEEC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C9202-E810-FACD-FE2D-A89800C28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07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visual briefly. Then say: 'Harry Potter leads our book sales at $4,366. Stephen Hawking holds 2 of the top 4 spots. The decomp tree shows 3 out of 5 top textbook categories belong to STEM. Health Sciences is our #2 textbook subcategory. Study Guides dominate general books at 38.3%. And book sales doubled in 2025. Four visuals. Three data layers. One customer. That's exactly who we're building the Study Ecosystem bundle for.'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A060E5-19EB-4E14-A119-86371AA1B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2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215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592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40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3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2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3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0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7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0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95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microsoft.com/office/2011/relationships/webextension" Target="../webextensions/webextension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guerrero777/Capstone_3.git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pp.powerbi.com/links/NfKbc1Sd9f?ctid=bbce5c37-f181-4d0c-9310-7f877336e1cf&amp;pbi_source=linkSh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85CD2A3-2099-476E-9A85-55DC735FA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159026"/>
            <a:ext cx="5938866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5A801-FEEE-1686-1FFF-F10D1D89B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896" y="4876803"/>
            <a:ext cx="4241074" cy="123332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Analyst: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Sharleen Guerrero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 2022 – Dec 2025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Query, DAX, Power BI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Picture 4" descr="The image depicts a charming bookshop nestled among blossoming cherry trees, with colorful books displayed in the window and a welcoming entrance.&#10;&#10;AI-generated content may be incorrect.">
            <a:extLst>
              <a:ext uri="{FF2B5EF4-FFF2-40B4-BE49-F238E27FC236}">
                <a16:creationId xmlns:a16="http://schemas.microsoft.com/office/drawing/2014/main" id="{7AED066F-0176-284A-371A-E2F928BC2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4" r="1" b="1"/>
          <a:stretch>
            <a:fillRect/>
          </a:stretch>
        </p:blipFill>
        <p:spPr>
          <a:xfrm>
            <a:off x="20" y="10"/>
            <a:ext cx="5938847" cy="685799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92979E8-2E86-433E-A7E4-5F102E45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31691" y="4237480"/>
            <a:ext cx="867485" cy="115439"/>
            <a:chOff x="8910933" y="1861308"/>
            <a:chExt cx="867485" cy="11543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DDEF0D5-EF9F-43D4-BF40-27A3121E0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mbo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1438B34-2B34-4614-B3B4-D0992715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C691BDB-93D3-4721-903C-45DD9590F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hape 1">
            <a:extLst>
              <a:ext uri="{FF2B5EF4-FFF2-40B4-BE49-F238E27FC236}">
                <a16:creationId xmlns:a16="http://schemas.microsoft.com/office/drawing/2014/main" id="{5118E749-A376-9E0B-FA2B-AC113EAA3F03}"/>
              </a:ext>
            </a:extLst>
          </p:cNvPr>
          <p:cNvSpPr/>
          <p:nvPr/>
        </p:nvSpPr>
        <p:spPr>
          <a:xfrm>
            <a:off x="6268098" y="2328432"/>
            <a:ext cx="5594671" cy="1144515"/>
          </a:xfrm>
          <a:prstGeom prst="roundRect">
            <a:avLst>
              <a:gd name="adj" fmla="val 3846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2A7F7F"/>
            </a:solidFill>
            <a:prstDash val="solid"/>
          </a:ln>
        </p:spPr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08193">
                    <a:lumMod val="50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 m p o 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08193">
                    <a:lumMod val="50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08193">
                    <a:lumMod val="50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U m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</a:b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South Region Sales Analysis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535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8C409FD-3314-DB4A-E2E7-40CBFE01ADC7}"/>
              </a:ext>
            </a:extLst>
          </p:cNvPr>
          <p:cNvSpPr/>
          <p:nvPr/>
        </p:nvSpPr>
        <p:spPr>
          <a:xfrm>
            <a:off x="0" y="-1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1EA4DBA-26C9-8C45-A093-1C8C301D83FA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Project Overview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A3478FC-9727-661A-1CDA-5DF3DD9496C8}"/>
              </a:ext>
            </a:extLst>
          </p:cNvPr>
          <p:cNvSpPr/>
          <p:nvPr/>
        </p:nvSpPr>
        <p:spPr>
          <a:xfrm>
            <a:off x="487680" y="1097280"/>
            <a:ext cx="11216640" cy="1341120"/>
          </a:xfrm>
          <a:prstGeom prst="roundRect">
            <a:avLst>
              <a:gd name="adj" fmla="val 7273"/>
            </a:avLst>
          </a:prstGeom>
          <a:solidFill>
            <a:srgbClr val="E8E4F0"/>
          </a:solidFill>
          <a:ln w="12700">
            <a:solidFill>
              <a:srgbClr val="9B8FA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96B3E3E-BAC7-28FA-AE21-4A4068F38DC9}"/>
              </a:ext>
            </a:extLst>
          </p:cNvPr>
          <p:cNvSpPr/>
          <p:nvPr/>
        </p:nvSpPr>
        <p:spPr>
          <a:xfrm>
            <a:off x="731520" y="967033"/>
            <a:ext cx="10972800" cy="1672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rgbClr val="3D354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EmporiUm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 student bookstore chain with in-store and online sales channels, operating 24 stores for the South Region across Florida, Texas, and South Carolina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Regional Director Andy Gisselquist requested a Power BI report analyzing four fiscal years of South Region in-store sales performance data that will be presented to territory managers and store managers at the regional meeting.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D79BE05-0F03-467F-65D5-E923F9185B6F}"/>
              </a:ext>
            </a:extLst>
          </p:cNvPr>
          <p:cNvSpPr/>
          <p:nvPr/>
        </p:nvSpPr>
        <p:spPr>
          <a:xfrm>
            <a:off x="659675" y="112166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Purpose of Analysis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EA4E3AC-20DB-E0AE-7698-92AA020DE622}"/>
              </a:ext>
            </a:extLst>
          </p:cNvPr>
          <p:cNvSpPr/>
          <p:nvPr/>
        </p:nvSpPr>
        <p:spPr>
          <a:xfrm>
            <a:off x="487680" y="2621280"/>
            <a:ext cx="5364480" cy="3779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F606652-22C5-AC81-C4B9-B2BA11A0177F}"/>
              </a:ext>
            </a:extLst>
          </p:cNvPr>
          <p:cNvSpPr/>
          <p:nvPr/>
        </p:nvSpPr>
        <p:spPr>
          <a:xfrm>
            <a:off x="6339840" y="2621280"/>
            <a:ext cx="5364480" cy="3779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4A09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B2F99F54-9A9B-B76B-E44F-93022D2E1BB3}"/>
              </a:ext>
            </a:extLst>
          </p:cNvPr>
          <p:cNvSpPr/>
          <p:nvPr/>
        </p:nvSpPr>
        <p:spPr>
          <a:xfrm>
            <a:off x="2011300" y="2691711"/>
            <a:ext cx="3644917" cy="358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After a nearly flat 2024, the South Region surged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B48C7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58% in 2025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raising a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critical question: what drove it and how can we sustain it?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report analyzes four years of in-store sales data to surface what's working, what's lagging, and where the biggest opportunities lie to turn that one-year surge into a long-term strategy for 2026.</a:t>
            </a:r>
          </a:p>
        </p:txBody>
      </p:sp>
      <p:pic>
        <p:nvPicPr>
          <p:cNvPr id="23" name="Graphic 22" descr="Bullseye with solid fill">
            <a:extLst>
              <a:ext uri="{FF2B5EF4-FFF2-40B4-BE49-F238E27FC236}">
                <a16:creationId xmlns:a16="http://schemas.microsoft.com/office/drawing/2014/main" id="{84BAAC62-44D3-1311-0A01-B10E7C400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75" y="2673913"/>
            <a:ext cx="1284133" cy="1284133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61D54B95-946A-D65F-4A29-4A30B0D36511}"/>
              </a:ext>
            </a:extLst>
          </p:cNvPr>
          <p:cNvSpPr/>
          <p:nvPr/>
        </p:nvSpPr>
        <p:spPr>
          <a:xfrm>
            <a:off x="6583680" y="27432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4A09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 of Analysis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0AF66C7C-95FC-5435-01D5-B1B33F3B4CAF}"/>
              </a:ext>
            </a:extLst>
          </p:cNvPr>
          <p:cNvSpPr/>
          <p:nvPr/>
        </p:nvSpPr>
        <p:spPr>
          <a:xfrm>
            <a:off x="6583680" y="3230880"/>
            <a:ext cx="4876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Region: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South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Territories: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Florida, Texas, South Carolina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(FL: 11, TX: 11, SC: 2)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Period: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Jan 2022 – Dec 2025 (4 calendar years)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In-store only (Online = West region)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Revenue: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$8.00M
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Transactions: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57,300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1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ETL &amp; Modeling Pipeline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720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workbook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TXT reference file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Named queries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0560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0560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57856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C4A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18816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00" normalizeH="0" baseline="0" noProof="0" dirty="0">
                <a:ln>
                  <a:noFill/>
                </a:ln>
                <a:solidFill>
                  <a:srgbClr val="C4A09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79776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Dates Formatting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79776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 replaced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79776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Nulls resolved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79776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Data Types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62656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62656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62656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Fixes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49952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B87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10912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00" normalizeH="0" baseline="0" noProof="0" dirty="0">
                <a:ln>
                  <a:noFill/>
                </a:ln>
                <a:solidFill>
                  <a:srgbClr val="B87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71872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 schema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71872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queries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71872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scope filtered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71872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for Report  Measures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54752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B87060"/>
          </a:solidFill>
          <a:ln w="12700">
            <a:solidFill>
              <a:srgbClr val="B87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54752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54752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42048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7A9A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03008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400" normalizeH="0" baseline="0" noProof="0" dirty="0">
              <a:ln>
                <a:noFill/>
              </a:ln>
              <a:solidFill>
                <a:srgbClr val="7A9A8A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7A9A8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400" normalizeH="0" baseline="0" noProof="0" dirty="0">
                <a:ln>
                  <a:noFill/>
                </a:ln>
                <a:solidFill>
                  <a:srgbClr val="7A9A8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363968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63968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intelligence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63968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Rankings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63968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 KPIs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46848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7A9A8A"/>
          </a:solidFill>
          <a:ln w="12700">
            <a:solidFill>
              <a:srgbClr val="7A9A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46848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46848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534144" y="1097280"/>
            <a:ext cx="2097024" cy="5303520"/>
          </a:xfrm>
          <a:prstGeom prst="roundRect">
            <a:avLst>
              <a:gd name="adj" fmla="val 4651"/>
            </a:avLst>
          </a:prstGeom>
          <a:solidFill>
            <a:srgbClr val="2A2235"/>
          </a:solidFill>
          <a:ln w="28575">
            <a:solidFill>
              <a:srgbClr val="D4CE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595104" y="1194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40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56064" y="2218944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visuals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56064" y="2682240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656064" y="3145536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56064" y="3608832"/>
            <a:ext cx="185318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Bookmark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38944" y="5059680"/>
            <a:ext cx="1487424" cy="914400"/>
          </a:xfrm>
          <a:prstGeom prst="roundRect">
            <a:avLst>
              <a:gd name="adj" fmla="val 8000"/>
            </a:avLst>
          </a:prstGeom>
          <a:solidFill>
            <a:srgbClr val="D4CED8"/>
          </a:solidFill>
          <a:ln w="12700">
            <a:solidFill>
              <a:srgbClr val="D4CE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838944" y="5096256"/>
            <a:ext cx="14874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838944" y="5510784"/>
            <a:ext cx="14874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Pages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D40597CF-3A1D-80A9-7ABD-1B229B585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316" y="1498745"/>
            <a:ext cx="701911" cy="701911"/>
          </a:xfrm>
          <a:prstGeom prst="rect">
            <a:avLst/>
          </a:prstGeom>
        </p:spPr>
      </p:pic>
      <p:pic>
        <p:nvPicPr>
          <p:cNvPr id="60" name="Graphic 59" descr="Mop and bucket with solid fill">
            <a:extLst>
              <a:ext uri="{FF2B5EF4-FFF2-40B4-BE49-F238E27FC236}">
                <a16:creationId xmlns:a16="http://schemas.microsoft.com/office/drawing/2014/main" id="{73577245-C9D7-3934-D9FF-0BE66DB61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9331" y="1488294"/>
            <a:ext cx="694074" cy="694074"/>
          </a:xfrm>
          <a:prstGeom prst="rect">
            <a:avLst/>
          </a:prstGeom>
        </p:spPr>
      </p:pic>
      <p:pic>
        <p:nvPicPr>
          <p:cNvPr id="62" name="Graphic 61" descr="Connected with solid fill">
            <a:extLst>
              <a:ext uri="{FF2B5EF4-FFF2-40B4-BE49-F238E27FC236}">
                <a16:creationId xmlns:a16="http://schemas.microsoft.com/office/drawing/2014/main" id="{B7C73C5F-D986-2C49-E954-E42944A9C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464" y="1522258"/>
            <a:ext cx="762000" cy="762000"/>
          </a:xfrm>
          <a:prstGeom prst="rect">
            <a:avLst/>
          </a:prstGeom>
        </p:spPr>
      </p:pic>
      <p:pic>
        <p:nvPicPr>
          <p:cNvPr id="66" name="Graphic 65" descr="Calculator outline">
            <a:extLst>
              <a:ext uri="{FF2B5EF4-FFF2-40B4-BE49-F238E27FC236}">
                <a16:creationId xmlns:a16="http://schemas.microsoft.com/office/drawing/2014/main" id="{F2165064-E137-6D2B-22DC-A41D66FEA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2727" y="1725324"/>
            <a:ext cx="595666" cy="595666"/>
          </a:xfrm>
          <a:prstGeom prst="rect">
            <a:avLst/>
          </a:prstGeom>
        </p:spPr>
      </p:pic>
      <p:pic>
        <p:nvPicPr>
          <p:cNvPr id="68" name="Graphic 67" descr="Presentation with pie chart with solid fill">
            <a:extLst>
              <a:ext uri="{FF2B5EF4-FFF2-40B4-BE49-F238E27FC236}">
                <a16:creationId xmlns:a16="http://schemas.microsoft.com/office/drawing/2014/main" id="{019067AE-92EF-5362-16FA-2C687372C4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5456" y="1459583"/>
            <a:ext cx="833696" cy="833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E2A82-6F64-33DE-13E1-B8D25DCF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15ED4F-C7E5-74E6-7595-F934406CEFC9}"/>
              </a:ext>
            </a:extLst>
          </p:cNvPr>
          <p:cNvSpPr/>
          <p:nvPr/>
        </p:nvSpPr>
        <p:spPr>
          <a:xfrm>
            <a:off x="0" y="0"/>
            <a:ext cx="12192000" cy="158496"/>
          </a:xfrm>
          <a:prstGeom prst="rect">
            <a:avLst/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CDDA15-FD37-EB8C-B741-3354E9374179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Executive Summary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B0FDCE-CC3D-22DD-A1E7-39D0E724B094}"/>
              </a:ext>
            </a:extLst>
          </p:cNvPr>
          <p:cNvSpPr/>
          <p:nvPr/>
        </p:nvSpPr>
        <p:spPr>
          <a:xfrm>
            <a:off x="4876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3F7255-E309-988B-88A9-E6D13BBEAC28}"/>
              </a:ext>
            </a:extLst>
          </p:cNvPr>
          <p:cNvSpPr/>
          <p:nvPr/>
        </p:nvSpPr>
        <p:spPr>
          <a:xfrm>
            <a:off x="6096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B8F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YoY Growth 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8C9D75-6D46-D8C9-BD4F-6C5B84A81893}"/>
              </a:ext>
            </a:extLst>
          </p:cNvPr>
          <p:cNvSpPr/>
          <p:nvPr/>
        </p:nvSpPr>
        <p:spPr>
          <a:xfrm>
            <a:off x="6096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58.90%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02C291-C940-B2B7-83C1-A207D7C9D013}"/>
              </a:ext>
            </a:extLst>
          </p:cNvPr>
          <p:cNvSpPr/>
          <p:nvPr/>
        </p:nvSpPr>
        <p:spPr>
          <a:xfrm>
            <a:off x="32308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A09A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8D970C-5F73-86AC-42AA-FB2A0F0F5DC2}"/>
              </a:ext>
            </a:extLst>
          </p:cNvPr>
          <p:cNvSpPr/>
          <p:nvPr/>
        </p:nvSpPr>
        <p:spPr>
          <a:xfrm>
            <a:off x="33528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B8F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Quarter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7E7094-B77B-FD6B-FA99-3E6CDB1B02D8}"/>
              </a:ext>
            </a:extLst>
          </p:cNvPr>
          <p:cNvSpPr/>
          <p:nvPr/>
        </p:nvSpPr>
        <p:spPr>
          <a:xfrm>
            <a:off x="33528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4A09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54563F-7415-70E5-3CBA-6B9BB2B98BBE}"/>
              </a:ext>
            </a:extLst>
          </p:cNvPr>
          <p:cNvSpPr/>
          <p:nvPr/>
        </p:nvSpPr>
        <p:spPr>
          <a:xfrm>
            <a:off x="5974080" y="1097280"/>
            <a:ext cx="256032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7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DD62EA-C1A5-3E28-D2AD-9232428AB8B8}"/>
              </a:ext>
            </a:extLst>
          </p:cNvPr>
          <p:cNvSpPr/>
          <p:nvPr/>
        </p:nvSpPr>
        <p:spPr>
          <a:xfrm>
            <a:off x="6096000" y="1194816"/>
            <a:ext cx="23164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B8F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Month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5DAC32-3613-9C86-3C50-C0E1852C66B5}"/>
              </a:ext>
            </a:extLst>
          </p:cNvPr>
          <p:cNvSpPr/>
          <p:nvPr/>
        </p:nvSpPr>
        <p:spPr>
          <a:xfrm>
            <a:off x="6096000" y="1463040"/>
            <a:ext cx="2316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7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12E890-8AB2-B2CA-B1DA-D4C182D3D502}"/>
              </a:ext>
            </a:extLst>
          </p:cNvPr>
          <p:cNvSpPr/>
          <p:nvPr/>
        </p:nvSpPr>
        <p:spPr>
          <a:xfrm>
            <a:off x="8717280" y="1097280"/>
            <a:ext cx="2987040" cy="975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A8A8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F57315-5CF5-3B4E-A0F9-41B85D8E24F6}"/>
              </a:ext>
            </a:extLst>
          </p:cNvPr>
          <p:cNvSpPr/>
          <p:nvPr/>
        </p:nvSpPr>
        <p:spPr>
          <a:xfrm>
            <a:off x="8839200" y="1194816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B8F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 YTD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FC6AC0-5CFA-27F9-C134-AA3557A4FDA9}"/>
              </a:ext>
            </a:extLst>
          </p:cNvPr>
          <p:cNvSpPr/>
          <p:nvPr/>
        </p:nvSpPr>
        <p:spPr>
          <a:xfrm>
            <a:off x="8839200" y="146304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$2.96M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C43F81-4A19-B5A9-2D34-DFAB933D10B5}"/>
              </a:ext>
            </a:extLst>
          </p:cNvPr>
          <p:cNvSpPr/>
          <p:nvPr/>
        </p:nvSpPr>
        <p:spPr>
          <a:xfrm>
            <a:off x="609600" y="3474720"/>
            <a:ext cx="633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📸 INSERT SCREENSHOT: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Top-Selling General Books table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913A649-89F3-CCC7-F5FA-3D3B81E1F7C8}"/>
              </a:ext>
            </a:extLst>
          </p:cNvPr>
          <p:cNvSpPr/>
          <p:nvPr/>
        </p:nvSpPr>
        <p:spPr>
          <a:xfrm>
            <a:off x="7437120" y="3474720"/>
            <a:ext cx="414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📸 INSERT SCREENSHOT: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General Books Sales Trend line chart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FCB2CFB-19F8-0C7C-0D43-CB0D27935922}"/>
              </a:ext>
            </a:extLst>
          </p:cNvPr>
          <p:cNvSpPr/>
          <p:nvPr/>
        </p:nvSpPr>
        <p:spPr>
          <a:xfrm>
            <a:off x="487680" y="5547360"/>
            <a:ext cx="11216640" cy="1036320"/>
          </a:xfrm>
          <a:prstGeom prst="roundRect">
            <a:avLst>
              <a:gd name="adj" fmla="val 9412"/>
            </a:avLst>
          </a:prstGeom>
          <a:solidFill>
            <a:srgbClr val="E8E4F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D948E66-9F95-D75B-BBD2-55D60BE9166F}"/>
              </a:ext>
            </a:extLst>
          </p:cNvPr>
          <p:cNvSpPr/>
          <p:nvPr/>
        </p:nvSpPr>
        <p:spPr>
          <a:xfrm>
            <a:off x="731520" y="5632704"/>
            <a:ext cx="1072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having the same amount of stores, Florida leads Texas every year.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grew from $19K (2022) to $274K (2025)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Beaumont, TX ($637K) is the #1 individual store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outperforming every Florida location. Q4 ($2.18M) and October ($819K) are peak periods across all 4 years combined.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F436FD76-835D-295B-5583-123F8C6390D0}"/>
              </a:ext>
            </a:extLst>
          </p:cNvPr>
          <p:cNvSpPr/>
          <p:nvPr/>
        </p:nvSpPr>
        <p:spPr>
          <a:xfrm>
            <a:off x="487680" y="2316480"/>
            <a:ext cx="5018314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DC796F8C-B019-449B-6B9C-3C5659540F08}"/>
              </a:ext>
            </a:extLst>
          </p:cNvPr>
          <p:cNvSpPr/>
          <p:nvPr/>
        </p:nvSpPr>
        <p:spPr>
          <a:xfrm>
            <a:off x="5669280" y="2304288"/>
            <a:ext cx="5913120" cy="3169920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pic>
        <p:nvPicPr>
          <p:cNvPr id="18" name="Picture 17" descr="The image displays a line chart comparing the revenue trends for Florida, South Carolina, and Texas from 2022 to 2025.&#10;&#10;AI-generated content may be incorrect.">
            <a:extLst>
              <a:ext uri="{FF2B5EF4-FFF2-40B4-BE49-F238E27FC236}">
                <a16:creationId xmlns:a16="http://schemas.microsoft.com/office/drawing/2014/main" id="{26940CF0-BD44-CF4A-D1D0-12A0BFF37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1" y="2404708"/>
            <a:ext cx="4781977" cy="2969080"/>
          </a:xfrm>
          <a:prstGeom prst="rect">
            <a:avLst/>
          </a:prstGeom>
        </p:spPr>
      </p:pic>
      <p:pic>
        <p:nvPicPr>
          <p:cNvPr id="24" name="Picture 23" descr="The image shows a chart comparing the top revenue-driving stores by territory, highlighting that Beaumont (TX), Miami (FL), and Tallahassee (FL) have the highest influence on total regional sales.&#10;&#10;AI-generated content may be incorrect.">
            <a:extLst>
              <a:ext uri="{FF2B5EF4-FFF2-40B4-BE49-F238E27FC236}">
                <a16:creationId xmlns:a16="http://schemas.microsoft.com/office/drawing/2014/main" id="{702CF6DB-81EE-1C9B-B306-22C485C5A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19" y="2368731"/>
            <a:ext cx="4541521" cy="30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6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170688"/>
            <a:ext cx="1121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3D354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Multi-Layer STEM Student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755904"/>
            <a:ext cx="11216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B8FA0"/>
                </a:solidFill>
                <a:latin typeface="Calibri\"/>
              </a:rPr>
              <a:t>The gift that keeps on giving </a:t>
            </a:r>
            <a:r>
              <a:rPr lang="en-US" sz="16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r>
              <a:rPr lang="en-US" sz="1600" i="1" dirty="0">
                <a:solidFill>
                  <a:srgbClr val="9B8FA0"/>
                </a:solidFill>
                <a:latin typeface="Calibri\"/>
              </a:rPr>
              <a:t> already shopping here across multiple </a:t>
            </a:r>
            <a:r>
              <a:rPr lang="en-US" sz="1600" i="1" dirty="0">
                <a:solidFill>
                  <a:srgbClr val="9B8F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  <a:r>
              <a:rPr lang="en-US" sz="1600" i="1" dirty="0">
                <a:solidFill>
                  <a:srgbClr val="9B8FA0"/>
                </a:solidFill>
                <a:latin typeface="Calibri\"/>
              </a:rPr>
              <a:t>.</a:t>
            </a:r>
            <a:endParaRPr lang="en-US" sz="1600" dirty="0">
              <a:latin typeface="Calibri\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" y="1158240"/>
            <a:ext cx="268224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5A8A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402336" y="3272334"/>
            <a:ext cx="2487168" cy="870509"/>
          </a:xfrm>
          <a:prstGeom prst="roundRect">
            <a:avLst>
              <a:gd name="adj" fmla="val 7003"/>
            </a:avLst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" y="3272334"/>
            <a:ext cx="2487168" cy="497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79%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2336" y="3738678"/>
            <a:ext cx="24871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2025 growth = Tech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30880" y="1158240"/>
            <a:ext cx="268224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4A09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3328416" y="3272334"/>
            <a:ext cx="2487168" cy="870509"/>
          </a:xfrm>
          <a:prstGeom prst="roundRect">
            <a:avLst>
              <a:gd name="adj" fmla="val 7003"/>
            </a:avLst>
          </a:prstGeom>
          <a:solidFill>
            <a:srgbClr val="C4A09A"/>
          </a:solidFill>
          <a:ln w="12700">
            <a:solidFill>
              <a:srgbClr val="C4A09A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28416" y="3272334"/>
            <a:ext cx="2487168" cy="497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71%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28416" y="3738678"/>
            <a:ext cx="24871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of revenue = Tech &amp; Accessories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6960" y="1158240"/>
            <a:ext cx="268224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8706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254496" y="3272334"/>
            <a:ext cx="2487168" cy="870509"/>
          </a:xfrm>
          <a:prstGeom prst="roundRect">
            <a:avLst>
              <a:gd name="adj" fmla="val 7003"/>
            </a:avLst>
          </a:prstGeom>
          <a:solidFill>
            <a:srgbClr val="B87060"/>
          </a:solidFill>
          <a:ln w="12700">
            <a:solidFill>
              <a:srgbClr val="B8706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254496" y="3272334"/>
            <a:ext cx="2487168" cy="497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of 5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54496" y="3738678"/>
            <a:ext cx="24871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categories belong to STEM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83040" y="1158240"/>
            <a:ext cx="2682240" cy="31089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A9A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9180576" y="3272334"/>
            <a:ext cx="2487168" cy="870509"/>
          </a:xfrm>
          <a:prstGeom prst="roundRect">
            <a:avLst>
              <a:gd name="adj" fmla="val 7003"/>
            </a:avLst>
          </a:prstGeom>
          <a:solidFill>
            <a:srgbClr val="7A9A8A"/>
          </a:solidFill>
          <a:ln w="12700">
            <a:solidFill>
              <a:srgbClr val="7A9A8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180576" y="3272334"/>
            <a:ext cx="2487168" cy="497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80576" y="3738678"/>
            <a:ext cx="2487168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Harry Potter — $4,366 · 151 transactions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4800" y="4450080"/>
            <a:ext cx="11582400" cy="1950720"/>
          </a:xfrm>
          <a:prstGeom prst="roundRect">
            <a:avLst>
              <a:gd name="adj" fmla="val 5000"/>
            </a:avLst>
          </a:prstGeom>
          <a:solidFill>
            <a:srgbClr val="3D3545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548640" y="4547616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data is telling us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4974336"/>
            <a:ext cx="1109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Harry Potter and the Sorcerer's Stone</a:t>
            </a:r>
            <a:r>
              <a:rPr lang="en-US" sz="15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leads at $4,366 (151 txns). </a:t>
            </a:r>
            <a:r>
              <a:rPr lang="en-US" sz="1500" b="1" dirty="0">
                <a:solidFill>
                  <a:srgbClr val="C4A0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Stephen Hawking holds 2 of the top 4 spots</a:t>
            </a:r>
            <a:r>
              <a:rPr lang="en-US" sz="1500" b="1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5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confirming South Region customers gear toward STEM. Decomp tree reinforces the pattern: 3 out of 5 top categories belong to STEM. </a:t>
            </a:r>
            <a:r>
              <a:rPr lang="en-US" sz="1500" b="1" dirty="0">
                <a:solidFill>
                  <a:srgbClr val="B87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Sciences = #2 textbook subcategory ($192K)</a:t>
            </a:r>
            <a:r>
              <a:rPr lang="en-US" sz="15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5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Guides dominate Books (General) at 38.3%</a:t>
            </a:r>
            <a:r>
              <a:rPr lang="en-US" sz="15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Book sales </a:t>
            </a:r>
            <a:r>
              <a:rPr lang="en-US" sz="1500" b="1" dirty="0">
                <a:solidFill>
                  <a:srgbClr val="5A8A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doubled in 2025 (+101%)</a:t>
            </a:r>
            <a:r>
              <a:rPr lang="en-US" sz="1500" dirty="0">
                <a:solidFill>
                  <a:srgbClr val="D4CE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peak in May 2025 at $7,034.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E0D789F5-30AC-176D-11B8-12FE1BE4E5E5}"/>
              </a:ext>
            </a:extLst>
          </p:cNvPr>
          <p:cNvSpPr/>
          <p:nvPr/>
        </p:nvSpPr>
        <p:spPr>
          <a:xfrm>
            <a:off x="374271" y="1255776"/>
            <a:ext cx="2543297" cy="1876349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pic>
        <p:nvPicPr>
          <p:cNvPr id="37" name="Picture 36" descr="The image is a bar chart depicting the growth in various sectors such as apparel, art, books, textbooks, stationery, supplies, and accessories, with a significant increase in revenue in the technology sector.&#10;&#10;AI-generated content may be incorrect.">
            <a:extLst>
              <a:ext uri="{FF2B5EF4-FFF2-40B4-BE49-F238E27FC236}">
                <a16:creationId xmlns:a16="http://schemas.microsoft.com/office/drawing/2014/main" id="{1C606823-7ED6-64ED-B1B8-5CE98501E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289318"/>
            <a:ext cx="2451612" cy="1769655"/>
          </a:xfrm>
          <a:prstGeom prst="rect">
            <a:avLst/>
          </a:prstGeom>
        </p:spPr>
      </p:pic>
      <p:sp>
        <p:nvSpPr>
          <p:cNvPr id="39" name="Shape 4">
            <a:extLst>
              <a:ext uri="{FF2B5EF4-FFF2-40B4-BE49-F238E27FC236}">
                <a16:creationId xmlns:a16="http://schemas.microsoft.com/office/drawing/2014/main" id="{258097FC-6921-4B06-57FD-D0F8754CD85B}"/>
              </a:ext>
            </a:extLst>
          </p:cNvPr>
          <p:cNvSpPr/>
          <p:nvPr/>
        </p:nvSpPr>
        <p:spPr>
          <a:xfrm>
            <a:off x="9124447" y="1235970"/>
            <a:ext cx="2543297" cy="1876349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4DEF5CE8-84E1-2BC5-8682-4F66FD48DF8F}"/>
              </a:ext>
            </a:extLst>
          </p:cNvPr>
          <p:cNvSpPr/>
          <p:nvPr/>
        </p:nvSpPr>
        <p:spPr>
          <a:xfrm>
            <a:off x="3300351" y="1277113"/>
            <a:ext cx="2543297" cy="1876349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pic>
        <p:nvPicPr>
          <p:cNvPr id="45" name="Picture 44" descr="The image displays a bar chart illustrating revenue distribution across various product categories, with Technology &amp; Accessories generating the highest revenue.&#10;&#10;AI-generated content may be incorrect.">
            <a:extLst>
              <a:ext uri="{FF2B5EF4-FFF2-40B4-BE49-F238E27FC236}">
                <a16:creationId xmlns:a16="http://schemas.microsoft.com/office/drawing/2014/main" id="{43ADD235-8459-F669-EADA-2748FF9BD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441" y="1348161"/>
            <a:ext cx="2386133" cy="1710811"/>
          </a:xfrm>
          <a:prstGeom prst="rect">
            <a:avLst/>
          </a:prstGeom>
        </p:spPr>
      </p:pic>
      <p:sp>
        <p:nvSpPr>
          <p:cNvPr id="43" name="Shape 4">
            <a:extLst>
              <a:ext uri="{FF2B5EF4-FFF2-40B4-BE49-F238E27FC236}">
                <a16:creationId xmlns:a16="http://schemas.microsoft.com/office/drawing/2014/main" id="{E851006D-1EC2-D2D0-538A-79A94BD0E622}"/>
              </a:ext>
            </a:extLst>
          </p:cNvPr>
          <p:cNvSpPr/>
          <p:nvPr/>
        </p:nvSpPr>
        <p:spPr>
          <a:xfrm>
            <a:off x="6226431" y="1271628"/>
            <a:ext cx="2543297" cy="1876349"/>
          </a:xfrm>
          <a:prstGeom prst="rect">
            <a:avLst/>
          </a:prstGeom>
          <a:solidFill>
            <a:srgbClr val="F5F5F5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pic>
        <p:nvPicPr>
          <p:cNvPr id="47" name="Picture 46" descr="Total Region S.&#10;&#10;AI-generated content may be incorrect.">
            <a:extLst>
              <a:ext uri="{FF2B5EF4-FFF2-40B4-BE49-F238E27FC236}">
                <a16:creationId xmlns:a16="http://schemas.microsoft.com/office/drawing/2014/main" id="{4E509D37-0D4B-DEDE-160F-E270A2656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721" y="1304763"/>
            <a:ext cx="2528008" cy="1696689"/>
          </a:xfrm>
          <a:prstGeom prst="rect">
            <a:avLst/>
          </a:prstGeom>
        </p:spPr>
      </p:pic>
      <p:pic>
        <p:nvPicPr>
          <p:cNvPr id="49" name="Picture 48" descr="A table listing book titles, authors, sales figures, and transaction counts.&#10;&#10;AI-generated content may be incorrect.">
            <a:extLst>
              <a:ext uri="{FF2B5EF4-FFF2-40B4-BE49-F238E27FC236}">
                <a16:creationId xmlns:a16="http://schemas.microsoft.com/office/drawing/2014/main" id="{5B9AAF6D-4E91-F154-3840-169F83C72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083" y="1266307"/>
            <a:ext cx="2486277" cy="18231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C5058-FA90-3886-7DCC-55017703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8E9F3AE-3564-4782-5378-31C68C500B8E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3883884-B657-EAF8-94C8-80A63B581A16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3D3545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Live Power BI Filtering &amp; Mobile Layout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5" name="Picture 4" descr="The image displays a dashboard for the South Region's sales performance, showing in-store sales data from January 2022 to December 2025, including transaction counts, total revenue, store counts, and revenue share by territory.&#10;&#10;AI-generated content may be incorrect.">
            <a:extLst>
              <a:ext uri="{FF2B5EF4-FFF2-40B4-BE49-F238E27FC236}">
                <a16:creationId xmlns:a16="http://schemas.microsoft.com/office/drawing/2014/main" id="{E41951A2-459D-A2CC-2C93-08C9A52B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44" y="1034684"/>
            <a:ext cx="3168961" cy="5347063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1"/>
            </a:outerShdw>
            <a:softEdge rad="38100"/>
          </a:effectLst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8B64DC3B-FA3A-48FE-35CD-4141497BC0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8278" y="1187631"/>
              <a:ext cx="7915003" cy="493449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8B64DC3B-FA3A-48FE-35CD-4141497BC0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278" y="1187631"/>
                <a:ext cx="7915003" cy="4934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BDFDE51B-D068-78A4-7BFA-31E199043E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6798" y="1329143"/>
              <a:ext cx="7712529" cy="475814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BDFDE51B-D068-78A4-7BFA-31E199043E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798" y="1329143"/>
                <a:ext cx="7712529" cy="47581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420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4ABA1-CAF2-7890-A3D8-4FC3DA2E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C96EF62-A434-97D3-3B79-DDD691E6E014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rgbClr val="5A8A80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94066E7-CA7B-0106-BFD7-8594550ACA45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Strategic Recommendations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097B629-3F20-D9CA-ADC5-8E638B613F4E}"/>
              </a:ext>
            </a:extLst>
          </p:cNvPr>
          <p:cNvSpPr/>
          <p:nvPr/>
        </p:nvSpPr>
        <p:spPr>
          <a:xfrm>
            <a:off x="609600" y="111513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South Region 2026 — turning the special 2025 surge into a targeted strategy that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yields benefits across more categories and locations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18DB8A6-F88F-1BD4-1F28-A50E1E3B5AE6}"/>
              </a:ext>
            </a:extLst>
          </p:cNvPr>
          <p:cNvSpPr/>
          <p:nvPr/>
        </p:nvSpPr>
        <p:spPr>
          <a:xfrm>
            <a:off x="609600" y="1685110"/>
            <a:ext cx="6979412" cy="4800600"/>
          </a:xfrm>
          <a:prstGeom prst="roundRect">
            <a:avLst>
              <a:gd name="adj" fmla="val 2439"/>
            </a:avLst>
          </a:prstGeom>
          <a:solidFill>
            <a:srgbClr val="2A2235"/>
          </a:solidFill>
          <a:ln w="1905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6965C2D-2070-D503-6031-F61124CBF7B2}"/>
              </a:ext>
            </a:extLst>
          </p:cNvPr>
          <p:cNvSpPr/>
          <p:nvPr/>
        </p:nvSpPr>
        <p:spPr>
          <a:xfrm>
            <a:off x="7714036" y="1752601"/>
            <a:ext cx="4003346" cy="4800599"/>
          </a:xfrm>
          <a:prstGeom prst="roundRect">
            <a:avLst>
              <a:gd name="adj" fmla="val 2439"/>
            </a:avLst>
          </a:prstGeom>
          <a:solidFill>
            <a:srgbClr val="2A2235"/>
          </a:solidFill>
          <a:ln w="19050">
            <a:solidFill>
              <a:srgbClr val="C4A0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pic>
        <p:nvPicPr>
          <p:cNvPr id="11" name="Picture 10" descr="A person is holding an open box containing an Apple ecosystem product, possibly a MacBook, for a speedy delivery.&#10;&#10;AI-generated content may be incorrect.">
            <a:extLst>
              <a:ext uri="{FF2B5EF4-FFF2-40B4-BE49-F238E27FC236}">
                <a16:creationId xmlns:a16="http://schemas.microsoft.com/office/drawing/2014/main" id="{0E4DADD9-3CAC-D9E7-6128-7D4FD887C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893">
            <a:off x="5263673" y="2828839"/>
            <a:ext cx="983418" cy="1648000"/>
          </a:xfrm>
          <a:prstGeom prst="rect">
            <a:avLst/>
          </a:prstGeom>
        </p:spPr>
      </p:pic>
      <p:pic>
        <p:nvPicPr>
          <p:cNvPr id="13" name="Picture 12" descr="The image shows a green Apple laptop, a pair of green wireless headphones, a white Apple watch, and a black iPad, all laid out on a light-colored surface.&#10;&#10;AI-generated content may be incorrect.">
            <a:extLst>
              <a:ext uri="{FF2B5EF4-FFF2-40B4-BE49-F238E27FC236}">
                <a16:creationId xmlns:a16="http://schemas.microsoft.com/office/drawing/2014/main" id="{64FC123F-0EA5-1838-6E46-0C48F16AE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7483">
            <a:off x="6350095" y="2120039"/>
            <a:ext cx="1032903" cy="1528799"/>
          </a:xfrm>
          <a:prstGeom prst="rect">
            <a:avLst/>
          </a:prstGeom>
        </p:spPr>
      </p:pic>
      <p:pic>
        <p:nvPicPr>
          <p:cNvPr id="15" name="Picture 14" descr="REO CPA REVIEW&#10;&#10;AI-generated content may be incorrect.">
            <a:extLst>
              <a:ext uri="{FF2B5EF4-FFF2-40B4-BE49-F238E27FC236}">
                <a16:creationId xmlns:a16="http://schemas.microsoft.com/office/drawing/2014/main" id="{AB69FFCE-AACB-1915-3D7F-31F5F2772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6874">
            <a:off x="6029621" y="4250341"/>
            <a:ext cx="1167274" cy="1667692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FC5CFA40-6A03-2B8B-38EB-8E872F0B6534}"/>
              </a:ext>
            </a:extLst>
          </p:cNvPr>
          <p:cNvSpPr/>
          <p:nvPr/>
        </p:nvSpPr>
        <p:spPr>
          <a:xfrm>
            <a:off x="929640" y="1853183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01 -  Launch a "Study Ecosystem" Bundle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7856EFA-E099-33E5-A95D-A32001762D06}"/>
              </a:ext>
            </a:extLst>
          </p:cNvPr>
          <p:cNvSpPr/>
          <p:nvPr/>
        </p:nvSpPr>
        <p:spPr>
          <a:xfrm>
            <a:off x="859972" y="2365672"/>
            <a:ext cx="4433207" cy="3439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Bundle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Laptop + discounted textbook + study guide + stationery, priced so buying together saves more to create a high transaction value sale.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this work?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= 71% of revenue + 79% of 2025 growth.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Sciences = #2 textbook subcategory.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Guides = 38.3% of Books (General).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B48C7E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pointing to the same large STEM customer base.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B48C7E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Keeping Up with the Trends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TikTok's Apple ecosystem study aesthetic has normalized premium student setups as a “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student” identity purchase.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A8A8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January 2026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Q1 &amp; Q2 average weakest at  ~$1.90M with no spring trigger.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 which is naturally driven by back-to-school and holiday spending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spring semester has no structured purchasing moment pulling students into stores.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January bundle launch created that trigger meeting students exactly when new semester motivation is highest 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spending intent is at its peak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kumimoji="0" lang="en-US" sz="1200" b="1" i="1" u="none" strike="noStrike" kern="1200" cap="none" spc="0" normalizeH="0" baseline="0" noProof="0" dirty="0">
              <a:ln>
                <a:noFill/>
              </a:ln>
              <a:solidFill>
                <a:srgbClr val="B48C7E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4CED8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E8A9D49-B5F5-9C10-0177-8D8F9870532F}"/>
              </a:ext>
            </a:extLst>
          </p:cNvPr>
          <p:cNvSpPr/>
          <p:nvPr/>
        </p:nvSpPr>
        <p:spPr>
          <a:xfrm>
            <a:off x="8014062" y="1853183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4A09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  Close the Territory  Gap (Florida-Texas)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9B80668-13D7-2B9B-2370-5833772CB16C}"/>
              </a:ext>
            </a:extLst>
          </p:cNvPr>
          <p:cNvSpPr/>
          <p:nvPr/>
        </p:nvSpPr>
        <p:spPr>
          <a:xfrm>
            <a:off x="7937672" y="2633907"/>
            <a:ext cx="3703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gap: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Florida leads Texas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$3.93M vs $3.42M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equal store counts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(11 each)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Gap grew from $19K in 2022 to $274K in 2025.
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counter-narrative: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Beaumont, TX ($637K) is the #1 individual store region-wide, outperforming every Florida location. Its population is not impressive, so Its store execution carries their success.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 Beaumont + Florida's flagship stores, extract the tactics, apply to underperforming Texas locations.
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to South Carolina: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Carolina only has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stores,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it holds its own with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Greenville ($337K), which is in the top  5 region-wide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4CE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proves the model can work  in small markets. Apply the model to neighboring store Charleston.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502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rgbClr val="FAF9F8"/>
          </a:fgClr>
          <a:bgClr>
            <a:schemeClr val="accent4">
              <a:lumMod val="40000"/>
              <a:lumOff val="6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E1EEC-4AD1-A906-4872-81BD1902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47CB0F9-E4FA-6DEF-C963-45815C032C3E}"/>
              </a:ext>
            </a:extLst>
          </p:cNvPr>
          <p:cNvSpPr/>
          <p:nvPr/>
        </p:nvSpPr>
        <p:spPr>
          <a:xfrm>
            <a:off x="0" y="0"/>
            <a:ext cx="12192000" cy="165463"/>
          </a:xfrm>
          <a:prstGeom prst="rect">
            <a:avLst/>
          </a:prstGeom>
          <a:solidFill>
            <a:schemeClr val="accent5"/>
          </a:solidFill>
          <a:ln w="12700">
            <a:solidFill>
              <a:srgbClr val="5A8A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FDB003-DED5-AFD6-5DB3-A8604C5C23AC}"/>
              </a:ext>
            </a:extLst>
          </p:cNvPr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5F3F8">
                    <a:lumMod val="2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GitHub Repository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rgbClr val="F5F3F8">
                  <a:lumMod val="25000"/>
                </a:srgbClr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pic>
        <p:nvPicPr>
          <p:cNvPr id="4" name="Picture 3" descr="Capstone 3: EmporiUm South Region Sales Analysis with Power BI&#10;&#10;AI-generated content may be incorrect.">
            <a:extLst>
              <a:ext uri="{FF2B5EF4-FFF2-40B4-BE49-F238E27FC236}">
                <a16:creationId xmlns:a16="http://schemas.microsoft.com/office/drawing/2014/main" id="{F7EF6644-E273-7D72-BAB2-3E3DD4CE4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7" y="1266008"/>
            <a:ext cx="6112794" cy="4417423"/>
          </a:xfrm>
          <a:prstGeom prst="rect">
            <a:avLst/>
          </a:prstGeom>
          <a:effectLst>
            <a:outerShdw blurRad="50800" dist="50800" dir="5400000" algn="ctr" rotWithShape="0">
              <a:schemeClr val="accent6">
                <a:lumMod val="40000"/>
                <a:lumOff val="60000"/>
              </a:scheme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83D582-0178-926B-90CA-D7843BC96A26}"/>
              </a:ext>
            </a:extLst>
          </p:cNvPr>
          <p:cNvSpPr/>
          <p:nvPr/>
        </p:nvSpPr>
        <p:spPr>
          <a:xfrm>
            <a:off x="7328263" y="1913709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Capstone 3 GitHub Repository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B18EFD-6D35-E080-1AF6-45F9C20080AF}"/>
              </a:ext>
            </a:extLst>
          </p:cNvPr>
          <p:cNvSpPr/>
          <p:nvPr/>
        </p:nvSpPr>
        <p:spPr>
          <a:xfrm>
            <a:off x="7328263" y="2828109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Service Report Link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embo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252A6E-00AD-0D9C-1D4D-D6CD4D76CC1D}"/>
              </a:ext>
            </a:extLst>
          </p:cNvPr>
          <p:cNvSpPr/>
          <p:nvPr/>
        </p:nvSpPr>
        <p:spPr>
          <a:xfrm>
            <a:off x="7328263" y="3661955"/>
            <a:ext cx="4630783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sguerrero@my.yearupunited.org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DAACD8-4672-850B-25CC-E13BA95B85C3}"/>
              </a:ext>
            </a:extLst>
          </p:cNvPr>
          <p:cNvSpPr/>
          <p:nvPr/>
        </p:nvSpPr>
        <p:spPr>
          <a:xfrm>
            <a:off x="8098972" y="4659086"/>
            <a:ext cx="3161212" cy="609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mbo"/>
                <a:ea typeface="+mn-ea"/>
                <a:cs typeface="+mn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96680686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Custom 2">
      <a:dk1>
        <a:sysClr val="windowText" lastClr="000000"/>
      </a:dk1>
      <a:lt1>
        <a:sysClr val="window" lastClr="FFFFFF"/>
      </a:lt1>
      <a:dk2>
        <a:srgbClr val="2C2830"/>
      </a:dk2>
      <a:lt2>
        <a:srgbClr val="F5F3F8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7F9CBC22-6D25-4787-8904-03F4ADF90DCB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4276F67-03BC-45EB-865B-E0F43A1FB354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4500cb5a-08d8-4d3e-a591-87b71b9dfdf0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bookmark" value="&quot;H4sIAAAAAAAAA+1ZWW/bOBD+K4awQF+MgrqlvG2S7oEmi2wcdFEs8jAkR7ZaRdRSdBJv4P++Q8rOYcex4zapW2wekogzmuObg0PqxpNl21Qw+QMu0Nvz9pX6fAH6cy/w+l7drTE/hihjKULqh1xmWYApUVVjSlW33t6NZ0AP0Xwo2zFUVhAt/n3e96CqTmBonwqoWux7DepW1VCV/2LHTCSjxzjte3jdVEqDFTkwYNCKvSR2eiYT/LchaQRhykscoDDdahSkaREzPw04yzFhsR8JYms7BmfZoyxWtFN/oGoDZU1q7JpMQiZkmMeB4DkG4AdBZtfbsh5WM4Pv3j2bNBYcg9eGq2uLB/9Eiq2k6ZQcKqICmWAQcsZihpLlEbNvF2VlZgr55N11owkrQrCT9rO8hFqg9BwgGtvO/xvvQFXjC/ffuwfrAzXWAk+xcKTalGZCYg4JwDPgFXrWkhOtCHhH+Iig3dpIXR1oJDbp7bHpOa086WVblQL1Aye9C6SgO9zAgHOi6RSV2NGVdGR0Pt54RyX53cn+ANXYin2zD20p3pBF9HNuI1fNg7skrjW6FGbgrBw4vjXCXc7NRFuXu+whMD7dyw/H3Dp1Xxfi8y6noW7nGd1p0apy/801k9cVXmLVUf8Zo56QKsdxq+Ktk0mcZUtGVtC0Nmy2cGhJojPpPU5exA2r9KSs67lGu6KVcuDPdc9BrMdVNQM7zAIR+37EEhZAHEIaBtHa7D8gY4aKwkyB/LICGBilsTcAi/WCY2eodUnkyc7WwddP1g3hOHeNC5An3IckivNUcOGHoRC7EbqOdKSE2yZ2KX6H9IZUV7ULoS2Z32vavMiqwbyjHa+XYsvre2yFz4lYl2KikDKL8iBOfCmjKMaMrU+xlXvjMUI71ripuafYKG16s7eWC0IZqHqnOCQh95x6mGj9V7dK004CLli9AzWuzU4Y5aByMd4NkFTT+6L2LkDLGenBPEcPWqLen7h8PCz1vDSD/oLdr5CLXQn7XERhkYVcgGCRyGMh0rXDajsC+rs0qtJ8n+VIo3Kcpj5w+o1sW1lRXPAMch6keeSnKQ9ikW8rS4oI01Riivb0gQEJDLaVxaMszZIYfcaR5VyC5MmP1nJ+K6nxazGaHNmJctm4W/p20+G91x2ld7dgyTOlq84Y/Y1mhd1w4c8x0Ob9vXtxTKfbUc8d7LfohRWdiw9GhMNiK3x0eJih0TXI3XB/noe7Ys+9pNoVkx5kSDeaSeanUZRLP8hCloUpE3mwG9P/Uzv7Nxp91rTstTXWlI+X2E5NG5tU/EseRwUmqR8zARELJc0WbIOzwqsk5C0CP0w+ctD/5+OqGHfpGPuUg1kRchYAz5NQSpY+Z47s+Nx5e367TTD+otWFe2F2DW+vKFbC1Pe6cDGLxV8jtIA7n2tZmtskv2hAl+3i0/uyplTw7RZQmM1D1j04wxbvCdXH3q9aXdE+8pOjnZbDkZP8yD0EO55fQrxsNSwZtVSds08bWZEFkhWMcZYwhjwRvk/4bhs2eT9sdzvylweM3QVso9S+jZdc+QXgqTgFLIiPVoXqJT9F+BsO2K/Rw9d2yyvi1AVU1Q71zIXM/9bdkslcQMIhZlRfPgsSGcVrT/DdNdf+2BgyY+Eg76Q+dnmrxqZtaFY4gRofuTJ1n2KkDewzLkqn0/8AtIlpsB8dAAA=&quot;"/>
    <we:property name="datasetId" value="&quot;546bde35-da02-48be-9fa5-64367d91e6ba&quot;"/>
    <we:property name="pageName" value="&quot;4277f50172b09e60514c&quot;"/>
    <we:property name="reportUrl" value="&quot;/links/6cknrtu6-y?ctid=bbce5c37-f181-4d0c-9310-7f877336e1cf&amp;bookmarkGuid=f43f6056-04ff-47ed-a554-e3349e937572&quot;"/>
    <we:property name="reportName" value="&quot;Guerrero_Capstone3&quot;"/>
    <we:property name="reportState" value="&quot;CONNECTED&quot;"/>
    <we:property name="pageDisplayName" value="&quot;Sales Performance Overview&quot;"/>
    <we:property name="backgroundColor" value="&quot;#AACCCC&quot;"/>
    <we:property name="initialStateBookmark" value="&quot;H4sIAAAAAAAAA+1Z608bORD/V6LVSf0SVd73Lt8gcA8BLSWop+qETn7MJm436z2vA+QQ//uNvQmEEEgaCk2ry4ck67Hn+Zvx2HvtCdnUJZ28oyPwdrw9pb6MqP7SCbyuV03H3r8/PN49Pfz73e7xAQ6r2khVNd7OtWeoHoD5KJsxLS0HHPzrvOvRsjyhA/tU0LKBrleDblRFS/kvtJORZPQYbroeXNWl0tSy7BtqwLK9wOn4jLL9tyFKpNzIC+gDN+1oFKRpERM/DRjJISGxH3Gc1rQTnGZLp1jWTnxPVYbKCsXYMZGEhIswjwPOcgioHwSZHW9kNSinCt+tPZvU1isGrgxTV9Yf7DMKtpxubtCgIiqAcEJDRkhMQJA8InZ1IUszFcgmB1e1Rl+hB1tuu+KCVhyE5xyioWntv/Z6qhyP3L+De+N9NdYcTqFwpMpIM0E2++jAM8pK8KwmJ1qh4x3hE1DtxobqsqcBpwlvh9yc48iTVjal5KDvGemNAIPu/EYNdUbUrSAJLV0JRwZn47V3JNHulvdHWo4t2zd7tJH8DWqEn3MbuXIW3AfsGqMlN32nZd/NW8HcYW7K2prcoged8XkOH25y48R9Wxeft5imVTNDdCtFq9L9m0lGq0u4gLKl/jMGPUFRbsatiLeOJ86UDSpZ0rqxYbOJg0MCnEqHMHkRM6zQE1lVM4l2RCvlnD+TPXNiNS7LqbPDLOCx70ckIQGNQ5qGQbQS/T1UZqAwzBjI5yVA3ygNnT61vl4w7Ay0lkiebG0efHuwrumOc1e4KLCE+TSJ4jzljPthyPl2hK4lHSnutoltit8+rhDqsnIhtCnzR4WbF2rVn1W049VcbHr9iKXwayLWQowXQmRRHsSJL0QUxZCR1RB7dG88BtqMNayr7inUSpvOdNXDhFCGlp1TGCCTOaPuA6376lpp3EmoC1anp8aV2QqlnKtcjLfDSaruPKu8c6rFlHSvn8MHLUDvTRwe96WepWbQXdD7FbDYprDPeBQWWcg45STiecx5urJZbYYUfx+0qn5MsxywVY7T1KcMv4FsyiuKC5bRnAVpHvlpyoKY55vyEjyCNBWQYn1IAQJkGGzKi0VZmiUx+IQByZmggiU/W8n5XWLh13w4ObId5UPlbumbdYdzyx2lczdgyVOhj50xumv1Ctthwocxxc37R7fiGE+3w4470W9QC0s8F/eG6IfFUri0eZh6oy2Q22H+DIfbos8cqLZFpXsIaVszQfw0inLhB1lIsjAlPA+2o/t/amf/Tq3PipK9MsdquTzFtqrbWCfjX/I4yiFJ/ZhwGpFQYG9B1jgrvAogbz3w0+CRUf0/Hh+LcQvH2EcMZkXISEBZnoRCkPRr+sh2njtvz2630Y2/ajVyC6b37/aK4lE3db02XMT64s8hWIc7myshzS3IRzXVsll8OpQVQsG3W0Bh1g9Z++AUW7wnVJ86v2l1ifvIL452KgdDx3nJPQQ5nl1CvGw2PFDqQXZO32lkRRYIUhDCSEIIsIT7Pvp307CJ+bDd7cjPDxi5C9ha0L6Nl3j0DcBTcQpIEB89FqqXfBXhr9lgv0YNX1ktL3GmLmhZblHNXED+966WROScJozGBPPLJ0EionjlCb695tobG4NqLBzkHddll7dqbJoae4UTWsGSK1P3KkbYwK53Udq1KkkL26cXzN3Z2q//ADEoUjRIHQAA&quot;"/>
    <we:property name="isFiltersActionButtonVisible" value="true"/>
    <we:property name="isVisualContainerHeaderHidden" value="false"/>
    <we:property name="reportEmbeddedTime" value="&quot;2026-06-26T05:29:17.873Z&quot;"/>
    <we:property name="creatorTenantId" value="&quot;bbce5c37-f181-4d0c-9310-7f877336e1cf&quot;"/>
    <we:property name="creatorUserId" value="&quot;10032005A82EEA88&quot;"/>
    <we:property name="creatorSessionId" value="&quot;369032e5-b6c8-4706-a44c-2dee2d28a687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1035</Words>
  <Application>Microsoft Office PowerPoint</Application>
  <PresentationFormat>Widescreen</PresentationFormat>
  <Paragraphs>113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Bembo</vt:lpstr>
      <vt:lpstr>Calibri</vt:lpstr>
      <vt:lpstr>Calibri\</vt:lpstr>
      <vt:lpstr>Cambria</vt:lpstr>
      <vt:lpstr>AdornVTI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sharleen guerrero</dc:creator>
  <cp:lastModifiedBy>sharleen guerrero</cp:lastModifiedBy>
  <cp:revision>1</cp:revision>
  <dcterms:created xsi:type="dcterms:W3CDTF">2026-06-22T16:25:30Z</dcterms:created>
  <dcterms:modified xsi:type="dcterms:W3CDTF">2026-06-26T07:11:46Z</dcterms:modified>
</cp:coreProperties>
</file>